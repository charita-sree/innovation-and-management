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8" r:id="rId9"/>
    <p:sldId id="263" r:id="rId10"/>
    <p:sldId id="266" r:id="rId11"/>
    <p:sldId id="264" r:id="rId12"/>
    <p:sldId id="265"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0AAD6E1-B262-4FA0-8152-D86686E5CC8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0AAD6E1-B262-4FA0-8152-D86686E5CC8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0AAD6E1-B262-4FA0-8152-D86686E5CC8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AAD6E1-B262-4FA0-8152-D86686E5CC8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0AAD6E1-B262-4FA0-8152-D86686E5CC85}" type="datetimeFigureOut">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0AAD6E1-B262-4FA0-8152-D86686E5CC85}" type="datetimeFigureOut">
              <a:rPr lang="en-US" smtClean="0"/>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257A2F-E2AF-4F6C-8113-BDDC3A8AB5B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0AAD6E1-B262-4FA0-8152-D86686E5CC8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0AAD6E1-B262-4FA0-8152-D86686E5CC8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257A2F-E2AF-4F6C-8113-BDDC3A8AB5B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0AAD6E1-B262-4FA0-8152-D86686E5CC85}" type="datetimeFigureOut">
              <a:rPr lang="en-US" smtClean="0"/>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257A2F-E2AF-4F6C-8113-BDDC3A8AB5B8}" type="slidenum">
              <a:rPr lang="en-US" smtClean="0"/>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437448"/>
            <a:ext cx="10058400" cy="2306780"/>
          </a:xfrm>
        </p:spPr>
        <p:txBody>
          <a:bodyPr/>
          <a:lstStyle/>
          <a:p>
            <a:pPr marL="0" marR="0" lvl="0" indent="0" defTabSz="914400" rtl="0" eaLnBrk="1" fontAlgn="auto" latinLnBrk="0" hangingPunct="1">
              <a:lnSpc>
                <a:spcPts val="4850"/>
              </a:lnSpc>
              <a:spcBef>
                <a:spcPts val="0"/>
              </a:spcBef>
              <a:spcAft>
                <a:spcPts val="0"/>
              </a:spcAft>
              <a:defRPr/>
            </a:pPr>
            <a:r>
              <a:rPr kumimoji="0" lang="en-US" sz="4400" b="0" i="0" u="none" strike="noStrike" kern="1200" cap="none" spc="0" normalizeH="0" baseline="0" noProof="0" dirty="0">
                <a:ln>
                  <a:noFill/>
                </a:ln>
                <a:solidFill>
                  <a:srgbClr val="74767D"/>
                </a:solidFill>
                <a:effectLst/>
                <a:uLnTx/>
                <a:uFillTx/>
                <a:latin typeface="Montserrat Medium" pitchFamily="34" charset="0"/>
                <a:ea typeface="Montserrat Medium" pitchFamily="34" charset="-122"/>
                <a:cs typeface="Montserrat Medium" pitchFamily="34" charset="-120"/>
              </a:rPr>
              <a:t>Sales Prediction using Regression Models in Big Data Analytics</a:t>
            </a:r>
            <a:br>
              <a:rPr kumimoji="0" lang="en-US" sz="4400" b="0" i="0" u="none" strike="noStrike" kern="1200" cap="none" spc="0" normalizeH="0" baseline="0" noProof="0" dirty="0">
                <a:ln>
                  <a:noFill/>
                </a:ln>
                <a:solidFill>
                  <a:srgbClr val="000000"/>
                </a:solidFill>
                <a:effectLst/>
                <a:uLnTx/>
                <a:uFillTx/>
                <a:latin typeface="Arial" panose="020B0604020202020204"/>
                <a:ea typeface="SimSun" panose="02010600030101010101" pitchFamily="2" charset="-122"/>
                <a:cs typeface="+mn-cs"/>
              </a:rPr>
            </a:br>
            <a:endParaRPr lang="en-US" dirty="0"/>
          </a:p>
        </p:txBody>
      </p:sp>
      <p:sp>
        <p:nvSpPr>
          <p:cNvPr id="3" name="Subtitle 2"/>
          <p:cNvSpPr>
            <a:spLocks noGrp="1"/>
          </p:cNvSpPr>
          <p:nvPr>
            <p:ph type="subTitle" idx="1"/>
          </p:nvPr>
        </p:nvSpPr>
        <p:spPr>
          <a:xfrm>
            <a:off x="7017249" y="2309912"/>
            <a:ext cx="4572000" cy="3536083"/>
          </a:xfrm>
        </p:spPr>
        <p:txBody>
          <a:bodyPr>
            <a:normAutofit/>
          </a:bodyPr>
          <a:lstStyle/>
          <a:p>
            <a:r>
              <a:rPr lang="en-US" sz="1700" b="1" dirty="0">
                <a:latin typeface="Times New Roman" panose="02020603050405020304" pitchFamily="18" charset="0"/>
                <a:cs typeface="Times New Roman" panose="02020603050405020304" pitchFamily="18" charset="0"/>
              </a:rPr>
              <a:t>Team Member</a:t>
            </a:r>
            <a:endParaRPr lang="en-US" sz="1700" b="1"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2320030143 - V Charita Sree</a:t>
            </a:r>
            <a:endParaRPr lang="en-US" sz="1700" b="1" dirty="0">
              <a:latin typeface="Times New Roman" panose="02020603050405020304" pitchFamily="18" charset="0"/>
              <a:cs typeface="Times New Roman" panose="02020603050405020304" pitchFamily="18" charset="0"/>
            </a:endParaRPr>
          </a:p>
          <a:p>
            <a:endParaRPr lang="en-US" sz="1700" b="1" dirty="0">
              <a:latin typeface="Times New Roman" panose="02020603050405020304" pitchFamily="18" charset="0"/>
              <a:cs typeface="Times New Roman" panose="02020603050405020304" pitchFamily="18" charset="0"/>
            </a:endParaRPr>
          </a:p>
          <a:p>
            <a:endParaRPr lang="en-US" sz="17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Guide Name:</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Madhu Guda</a:t>
            </a:r>
            <a:endParaRPr lang="en-US" sz="1600"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1161782" y="2269842"/>
            <a:ext cx="4334892" cy="35360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94977"/>
            <a:ext cx="10058400" cy="1450757"/>
          </a:xfrm>
        </p:spPr>
        <p:txBody>
          <a:bodyPr/>
          <a:lstStyle/>
          <a:p>
            <a:pPr algn="ctr"/>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Businesses need to predict future sales to manage inventory and planning.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methods are not accurate for large and complex datasets.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are affected by many factors like holidays, economy, and store differences.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Without proper prediction, companies may face losses or overstocking.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Hence, a data-driven solution is required for accurate sales forecasting. </a:t>
            </a:r>
            <a:endParaRPr lang="en-US" dirty="0">
              <a:latin typeface="Times New Roman" panose="02020603050405020304" pitchFamily="18" charset="0"/>
              <a:cs typeface="Times New Roman" panose="02020603050405020304" pitchFamily="18" charset="0"/>
            </a:endParaRP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94977"/>
            <a:ext cx="10058400" cy="1450757"/>
          </a:xfrm>
        </p:spPr>
        <p:txBody>
          <a:bodyPr/>
          <a:lstStyle/>
          <a:p>
            <a:pPr algn="ctr"/>
            <a:r>
              <a:rPr lang="en-US" dirty="0">
                <a:latin typeface="Times New Roman" panose="02020603050405020304" pitchFamily="18" charset="0"/>
                <a:cs typeface="Times New Roman" panose="02020603050405020304" pitchFamily="18" charset="0"/>
              </a:rPr>
              <a:t>Objective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pPr marL="0" indent="0">
              <a:buNone/>
            </a:pPr>
            <a:r>
              <a:rPr lang="en-US" dirty="0"/>
              <a:t>OBJECTIVE:</a:t>
            </a:r>
            <a:endParaRPr lang="en-US" dirty="0"/>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analyze historical sales data and identify patterns.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build a prediction model using Multiple Linear Regression.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study the impact of factors like holidays, fuel price, CPI, and unemployment on sales.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model performance using R² and MSE.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simple system that predicts sales based on user input. </a:t>
            </a:r>
            <a:endParaRPr lang="en-US" dirty="0">
              <a:latin typeface="Times New Roman" panose="02020603050405020304" pitchFamily="18" charset="0"/>
              <a:cs typeface="Times New Roman" panose="02020603050405020304" pitchFamily="18" charset="0"/>
            </a:endParaRP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kumimoji="0" lang="en-US" sz="4800" b="0"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Dataset Description</a:t>
            </a:r>
            <a:endParaRPr lang="en-US" dirty="0"/>
          </a:p>
        </p:txBody>
      </p:sp>
      <p:sp>
        <p:nvSpPr>
          <p:cNvPr id="3" name="Content Placeholder 2"/>
          <p:cNvSpPr>
            <a:spLocks noGrp="1"/>
          </p:cNvSpPr>
          <p:nvPr>
            <p:ph sz="half"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Calibri" panose="020F0502020204030204" pitchFamily="34" charset="0"/>
              <a:buChar char=" "/>
              <a:defRPr/>
            </a:pP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Dataset Details</a:t>
            </a:r>
            <a:endPar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Dataset: Walmart Sales Dataset </a:t>
            </a:r>
            <a:endPar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Total Records: </a:t>
            </a: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421,570</a:t>
            </a: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 </a:t>
            </a:r>
            <a:endPar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Total Features: </a:t>
            </a:r>
            <a:r>
              <a:rPr kumimoji="0" lang="en-US" sz="2000" b="1"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8</a:t>
            </a: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 </a:t>
            </a:r>
            <a:endPar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Data Type: Structured (Tabular) </a:t>
            </a:r>
            <a:endPar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pPr marL="91440" marR="0" lvl="0" indent="-91440" algn="l" defTabSz="914400" rtl="0" eaLnBrk="1" fontAlgn="auto" latinLnBrk="0" hangingPunct="1">
              <a:lnSpc>
                <a:spcPct val="90000"/>
              </a:lnSpc>
              <a:spcBef>
                <a:spcPts val="1200"/>
              </a:spcBef>
              <a:spcAft>
                <a:spcPts val="200"/>
              </a:spcAft>
              <a:buClr>
                <a:srgbClr val="E48312"/>
              </a:buClr>
              <a:buSzPct val="100000"/>
              <a:buFont typeface="Arial" panose="020B0604020202020204" pitchFamily="34" charset="0"/>
              <a:buChar char="•"/>
              <a:defRPr/>
            </a:pPr>
            <a:r>
              <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rPr>
              <a:t>Time Period: Weekly </a:t>
            </a:r>
            <a:endParaRPr kumimoji="0" lang="en-US" sz="2000" b="0" i="0" u="none" strike="noStrike" kern="1200" cap="none" spc="0" normalizeH="0" baseline="0" noProof="0" dirty="0">
              <a:ln>
                <a:noFill/>
              </a:ln>
              <a:solidFill>
                <a:srgbClr val="000000">
                  <a:lumMod val="75000"/>
                  <a:lumOff val="25000"/>
                </a:srgbClr>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4" name="Content Placeholder 3"/>
          <p:cNvSpPr>
            <a:spLocks noGrp="1"/>
          </p:cNvSpPr>
          <p:nvPr>
            <p:ph sz="half" idx="2"/>
          </p:nvPr>
        </p:nvSpPr>
        <p:spPr/>
        <p:txBody>
          <a:bodyPr/>
          <a:lstStyle/>
          <a:p>
            <a:r>
              <a:rPr lang="en-US" b="1" dirty="0">
                <a:latin typeface="Times New Roman" panose="02020603050405020304" pitchFamily="18" charset="0"/>
                <a:cs typeface="Times New Roman" panose="02020603050405020304" pitchFamily="18" charset="0"/>
              </a:rPr>
              <a:t>Variables</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Date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Weekly_Sales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(Target)</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Holiday_Flag</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Temperature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Fuel_Price</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CPI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Unemployment </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Data Preprocessing &amp; EDA</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4902828" cy="4023360"/>
          </a:xfrm>
        </p:spPr>
        <p:txBody>
          <a:bodyPr/>
          <a:lstStyle/>
          <a:p>
            <a:r>
              <a:rPr lang="en-US" b="1" dirty="0">
                <a:latin typeface="Times New Roman" panose="02020603050405020304" pitchFamily="18" charset="0"/>
                <a:cs typeface="Times New Roman" panose="02020603050405020304" pitchFamily="18" charset="0"/>
              </a:rPr>
              <a:t>Preprocessing Steps</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Converted data types (Date, Store, Holiday)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Removed missing values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new features (Month, Year)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EDA Insights</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sales during holidays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Economic factors influence sales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Variation across stores</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Model Implementation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5334342" cy="4023360"/>
          </a:xfrm>
        </p:spPr>
        <p:txBody>
          <a:bodyPr/>
          <a:lstStyle/>
          <a:p>
            <a:r>
              <a:rPr lang="en-US" b="1" dirty="0">
                <a:latin typeface="Times New Roman" panose="02020603050405020304" pitchFamily="18" charset="0"/>
                <a:cs typeface="Times New Roman" panose="02020603050405020304" pitchFamily="18" charset="0"/>
              </a:rPr>
              <a:t>Model Used</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Multiple Linear Regression </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Regression Equation</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Sales = f(Holiday, Temperature, Fuel Price, CPI, Unemployment, Store)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Steps</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split: 80% Training, 20% Testing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trained using historical data </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Predictions generated </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endParaRPr lang="en-US" dirty="0">
              <a:latin typeface="Times New Roman" panose="02020603050405020304" pitchFamily="18" charset="0"/>
              <a:cs typeface="Times New Roman" panose="02020603050405020304" pitchFamily="18" charset="0"/>
            </a:endParaRPr>
          </a:p>
        </p:txBody>
      </p:sp>
      <p:sp>
        <p:nvSpPr>
          <p:cNvPr id="6" name="Content Placeholder 4"/>
          <p:cNvSpPr>
            <a:spLocks noGrp="1"/>
          </p:cNvSpPr>
          <p:nvPr>
            <p:ph idx="1"/>
          </p:nvPr>
        </p:nvSpPr>
        <p:spPr>
          <a:xfrm>
            <a:off x="1096963" y="1739349"/>
            <a:ext cx="5303836" cy="4572000"/>
          </a:xfrm>
        </p:spPr>
        <p:txBody>
          <a:bodyPr>
            <a:normAutofit lnSpcReduction="10000"/>
          </a:bodyPr>
          <a:lstStyle/>
          <a:p>
            <a:endParaRPr lang="en-GB" b="1"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Sales Prediction and Model Performance</a:t>
            </a:r>
            <a:endParaRPr lang="en-GB" b="1"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A Linear Regression model is used to predict weekly sales based on factors like store number, temperature, fuel price, CPI, unemployment rate, and holiday indicators. The model generates predicted sales values that are compared with actual sales using prediction graphs. The model performance is evaluated using metrics such as Mean Squared Error (MSE), Root Mean Squared Error (RMSE), and R-squared (R²), which measure prediction accuracy.</a:t>
            </a:r>
            <a:endParaRPr lang="en-GB" dirty="0">
              <a:latin typeface="Times New Roman" panose="02020603050405020304" pitchFamily="18" charset="0"/>
              <a:cs typeface="Times New Roman" panose="02020603050405020304" pitchFamily="18" charset="0"/>
            </a:endParaRPr>
          </a:p>
          <a:p>
            <a:br>
              <a:rPr lang="en-GB" dirty="0">
                <a:latin typeface="Times New Roman" panose="02020603050405020304" pitchFamily="18" charset="0"/>
                <a:cs typeface="Times New Roman" panose="02020603050405020304" pitchFamily="18" charset="0"/>
              </a:rPr>
            </a:br>
            <a:br>
              <a:rPr lang="en-GB"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00799" y="1739348"/>
            <a:ext cx="5476461" cy="4373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3123" y="1779104"/>
            <a:ext cx="4376616" cy="4422913"/>
          </a:xfrm>
        </p:spPr>
        <p:txBody>
          <a:bodyPr>
            <a:normAutofit lnSpcReduction="10000"/>
          </a:bodyPr>
          <a:lstStyle/>
          <a:p>
            <a:r>
              <a:rPr lang="en-GB" sz="1800" b="1" dirty="0">
                <a:latin typeface="Times New Roman" panose="02020603050405020304" pitchFamily="18" charset="0"/>
                <a:cs typeface="Times New Roman" panose="02020603050405020304" pitchFamily="18" charset="0"/>
              </a:rPr>
              <a:t>Sales Dashboard Overview</a:t>
            </a:r>
            <a:endParaRPr lang="en-GB" sz="1800" b="1" dirty="0">
              <a:latin typeface="Times New Roman" panose="02020603050405020304" pitchFamily="18" charset="0"/>
              <a:cs typeface="Times New Roman" panose="02020603050405020304" pitchFamily="18" charset="0"/>
            </a:endParaRPr>
          </a:p>
          <a:p>
            <a:endParaRPr lang="en-GB" sz="1800" dirty="0">
              <a:latin typeface="Times New Roman" panose="02020603050405020304" pitchFamily="18" charset="0"/>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The project output is presented through an interactive dashboard developed using R in RStudio with the help of Shiny.</a:t>
            </a:r>
            <a:endParaRPr lang="en-GB" sz="1800" dirty="0">
              <a:latin typeface="Times New Roman" panose="02020603050405020304" pitchFamily="18" charset="0"/>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 The dashboard allows users 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Walmart sales data using filters such as Store, Year, and Temperature. </a:t>
            </a:r>
            <a:endParaRPr lang="en-GB" sz="1800" dirty="0">
              <a:latin typeface="Times New Roman" panose="02020603050405020304" pitchFamily="18" charset="0"/>
              <a:cs typeface="Times New Roman" panose="02020603050405020304" pitchFamily="18" charset="0"/>
            </a:endParaRPr>
          </a:p>
          <a:p>
            <a:r>
              <a:rPr lang="en-GB" sz="1800" dirty="0">
                <a:latin typeface="Times New Roman" panose="02020603050405020304" pitchFamily="18" charset="0"/>
                <a:cs typeface="Times New Roman" panose="02020603050405020304" pitchFamily="18" charset="0"/>
              </a:rPr>
              <a:t>It displays key sales metrics including total sales, average sales, maximum sales, and minimum sales. These indicators provide a quick overview of store performance and help users understand overall revenue patterns.</a:t>
            </a:r>
            <a:endParaRPr lang="en-GB" sz="1800" dirty="0">
              <a:latin typeface="Times New Roman" panose="02020603050405020304" pitchFamily="18" charset="0"/>
              <a:cs typeface="Times New Roman" panose="02020603050405020304" pitchFamily="18" charset="0"/>
            </a:endParaRPr>
          </a:p>
          <a:p>
            <a:br>
              <a:rPr lang="en-GB" dirty="0"/>
            </a:br>
            <a:endParaRPr 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79739" y="1649896"/>
            <a:ext cx="7087583" cy="4552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306" y="-150719"/>
            <a:ext cx="10058400" cy="1450757"/>
          </a:xfrm>
        </p:spPr>
        <p:txBody>
          <a:bodyPr/>
          <a:lstStyle/>
          <a:p>
            <a:pPr algn="ctr"/>
            <a:r>
              <a:rPr lang="en-US" dirty="0">
                <a:latin typeface="Times New Roman" panose="02020603050405020304" pitchFamily="18" charset="0"/>
                <a:cs typeface="Times New Roman" panose="02020603050405020304" pitchFamily="18" charset="0"/>
              </a:rPr>
              <a:t>Results &amp; Performance</a:t>
            </a:r>
            <a:endParaRPr lang="en-US"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97280" y="1737277"/>
            <a:ext cx="4998720" cy="4593949"/>
          </a:xfrm>
        </p:spPr>
        <p:txBody>
          <a:bodyPr>
            <a:normAutofit/>
          </a:bodyPr>
          <a:lstStyle/>
          <a:p>
            <a:endParaRPr lang="en-GB" b="1"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Data Visualization and Analysis</a:t>
            </a:r>
            <a:endParaRPr lang="en-GB" b="1"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The system includes multiple graphs to visualize sales trends and patterns. Visualizations such as sales trend graphs, monthly sales distribution, temperature vs sales plots, and holiday impact analysis help identify factors that influence sales performance. These graphs make it easier to interpret large datasets and reveal patterns such as seasonal sales increases and variations in customer buying </a:t>
            </a:r>
            <a:r>
              <a:rPr lang="en-GB" dirty="0" err="1">
                <a:latin typeface="Times New Roman" panose="02020603050405020304" pitchFamily="18" charset="0"/>
                <a:cs typeface="Times New Roman" panose="02020603050405020304" pitchFamily="18" charset="0"/>
              </a:rPr>
              <a:t>behavior</a:t>
            </a:r>
            <a:r>
              <a:rPr lang="en-GB"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a:p>
            <a:br>
              <a:rPr lang="en-GB" dirty="0"/>
            </a:br>
            <a:endParaRPr lang="en-I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1737277"/>
            <a:ext cx="5324475" cy="44448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Frontend Implementation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5457632" cy="4023360"/>
          </a:xfrm>
        </p:spPr>
        <p:txBody>
          <a:bodyPr/>
          <a:lstStyle/>
          <a:p>
            <a:r>
              <a:rPr lang="en-US" b="1" dirty="0"/>
              <a:t>Technology Used</a:t>
            </a:r>
            <a:endParaRPr lang="en-US" b="1" dirty="0"/>
          </a:p>
          <a:p>
            <a:pPr>
              <a:buFont typeface="Arial" panose="020B0604020202020204" pitchFamily="34" charset="0"/>
              <a:buChar char="•"/>
            </a:pPr>
            <a:r>
              <a:rPr lang="en-US" dirty="0"/>
              <a:t>R Shiny </a:t>
            </a:r>
            <a:endParaRPr lang="en-US" dirty="0"/>
          </a:p>
          <a:p>
            <a:r>
              <a:rPr lang="en-US" b="1" dirty="0"/>
              <a:t>Features</a:t>
            </a:r>
            <a:endParaRPr lang="en-US" b="1" dirty="0"/>
          </a:p>
          <a:p>
            <a:pPr>
              <a:buFont typeface="Arial" panose="020B0604020202020204" pitchFamily="34" charset="0"/>
              <a:buChar char="•"/>
            </a:pPr>
            <a:r>
              <a:rPr lang="en-US" dirty="0"/>
              <a:t>User input fields </a:t>
            </a:r>
            <a:endParaRPr lang="en-US" dirty="0"/>
          </a:p>
          <a:p>
            <a:pPr>
              <a:buFont typeface="Arial" panose="020B0604020202020204" pitchFamily="34" charset="0"/>
              <a:buChar char="•"/>
            </a:pPr>
            <a:r>
              <a:rPr lang="en-US" dirty="0"/>
              <a:t>Predict button </a:t>
            </a:r>
            <a:endParaRPr lang="en-US" dirty="0"/>
          </a:p>
          <a:p>
            <a:pPr>
              <a:buFont typeface="Arial" panose="020B0604020202020204" pitchFamily="34" charset="0"/>
              <a:buChar char="•"/>
            </a:pPr>
            <a:r>
              <a:rPr lang="en-US" dirty="0"/>
              <a:t>Displays predicted sales </a:t>
            </a:r>
            <a:endParaRPr lang="en-US" dirty="0"/>
          </a:p>
          <a:p>
            <a:pPr>
              <a:buFont typeface="Arial" panose="020B0604020202020204" pitchFamily="34" charset="0"/>
              <a:buChar char="•"/>
            </a:pPr>
            <a:r>
              <a:rPr lang="en-US" dirty="0"/>
              <a:t>Shows performance metrics </a:t>
            </a:r>
            <a:endParaRPr lang="en-US" dirty="0"/>
          </a:p>
          <a:p>
            <a:pPr>
              <a:buFont typeface="Arial" panose="020B0604020202020204" pitchFamily="34" charset="0"/>
              <a:buChar char="•"/>
            </a:pPr>
            <a:r>
              <a:rPr lang="en-US" dirty="0"/>
              <a:t>Graph visualization</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Key Observations &amp; Challenges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5457632" cy="4023360"/>
          </a:xfrm>
        </p:spPr>
        <p:txBody>
          <a:bodyPr/>
          <a:lstStyle/>
          <a:p>
            <a:pPr marL="0" indent="0">
              <a:buNone/>
            </a:pPr>
            <a:r>
              <a:rPr lang="en-US" b="1" dirty="0">
                <a:latin typeface="Times New Roman" panose="02020603050405020304" pitchFamily="18" charset="0"/>
                <a:cs typeface="Times New Roman" panose="02020603050405020304" pitchFamily="18" charset="0"/>
              </a:rPr>
              <a:t>Observation:</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increase during holiday weeks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Promotions boost short-term sales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unemployment reduces sales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CPI has moderate impact</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Store-wise variations observed</a:t>
            </a:r>
            <a:endParaRPr lang="en-US" dirty="0">
              <a:latin typeface="Times New Roman" panose="02020603050405020304" pitchFamily="18" charset="0"/>
              <a:cs typeface="Times New Roman" panose="02020603050405020304" pitchFamily="18" charset="0"/>
            </a:endParaRPr>
          </a:p>
        </p:txBody>
      </p:sp>
      <p:sp>
        <p:nvSpPr>
          <p:cNvPr id="5" name="Content Placeholder 2"/>
          <p:cNvSpPr txBox="1"/>
          <p:nvPr/>
        </p:nvSpPr>
        <p:spPr>
          <a:xfrm>
            <a:off x="6126480" y="1893490"/>
            <a:ext cx="5457632"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b="1" dirty="0">
                <a:latin typeface="Times New Roman" panose="02020603050405020304" pitchFamily="18" charset="0"/>
                <a:cs typeface="Times New Roman" panose="02020603050405020304" pitchFamily="18" charset="0"/>
              </a:rPr>
              <a:t>Challenges:</a:t>
            </a:r>
            <a:endParaRPr lang="en-US" b="1"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Handling Large </a:t>
            </a:r>
            <a:r>
              <a:rPr lang="en-US" dirty="0" err="1">
                <a:latin typeface="Times New Roman" panose="02020603050405020304" pitchFamily="18" charset="0"/>
                <a:cs typeface="Times New Roman" panose="02020603050405020304" pitchFamily="18" charset="0"/>
              </a:rPr>
              <a:t>DataSet</a:t>
            </a:r>
            <a:endParaRPr lang="en-US"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Data Preprocessing Complexity</a:t>
            </a:r>
            <a:endParaRPr lang="en-US"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Model Tuning</a:t>
            </a:r>
            <a:endParaRPr lang="en-US"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r>
              <a:rPr lang="en-US" dirty="0">
                <a:latin typeface="Times New Roman" panose="02020603050405020304" pitchFamily="18" charset="0"/>
                <a:cs typeface="Times New Roman" panose="02020603050405020304" pitchFamily="18" charset="0"/>
              </a:rPr>
              <a:t>Integrating Frontend with Backend</a:t>
            </a:r>
            <a:endParaRPr lang="en-US"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endParaRPr lang="en-US" b="1" dirty="0">
              <a:latin typeface="Times New Roman" panose="02020603050405020304" pitchFamily="18" charset="0"/>
              <a:cs typeface="Times New Roman" panose="02020603050405020304" pitchFamily="18" charset="0"/>
            </a:endParaRPr>
          </a:p>
          <a:p>
            <a:pPr marL="0" indent="0">
              <a:buFont typeface="Calibri" panose="020F0502020204030204" pitchFamily="34" charset="0"/>
              <a:buNone/>
            </a:pP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6550" y="2362569"/>
            <a:ext cx="10058400" cy="4023360"/>
          </a:xfrm>
        </p:spPr>
        <p:txBody>
          <a:bodyPr/>
          <a:lstStyle/>
          <a:p>
            <a:r>
              <a:rPr lang="en-GB" dirty="0">
                <a:latin typeface="Times New Roman" panose="02020603050405020304" pitchFamily="18" charset="0"/>
                <a:cs typeface="Times New Roman" panose="02020603050405020304" pitchFamily="18" charset="0"/>
              </a:rPr>
              <a:t>This project focused on developing a Big Data Analytics framework for sales prediction using regression models on Walmart-like datasets. The system follows a structured ETL (Extract, Transform, Load) process, ensuring large-scale retail data is efficiently processed for predictive analysis. Historical sales data, along with additional features like store locations, product categories, and holidays, were cleaned, normalized, and transformed to create high-quality inputs for regression models. The workflow from data extraction to visualization ensures accurate sales forecasts and actionable insights for business decision-making.</a:t>
            </a:r>
            <a:endParaRPr lang="en-GB" dirty="0">
              <a:latin typeface="Times New Roman" panose="02020603050405020304" pitchFamily="18" charset="0"/>
              <a:cs typeface="Times New Roman" panose="02020603050405020304" pitchFamily="18" charset="0"/>
            </a:endParaRPr>
          </a:p>
          <a:p>
            <a:br>
              <a:rPr lang="en-GB" dirty="0"/>
            </a:br>
            <a:endParaRPr lang="en-IN"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4170</Words>
  <Application>WPS Presentation</Application>
  <PresentationFormat>Widescreen</PresentationFormat>
  <Paragraphs>135</Paragraphs>
  <Slides>12</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Calibri</vt:lpstr>
      <vt:lpstr>Montserrat Medium</vt:lpstr>
      <vt:lpstr>Segoe Print</vt:lpstr>
      <vt:lpstr>Montserrat Medium</vt:lpstr>
      <vt:lpstr>Montserrat Medium</vt:lpstr>
      <vt:lpstr>Arial</vt:lpstr>
      <vt:lpstr>Times New Roman</vt:lpstr>
      <vt:lpstr>Calibri Light</vt:lpstr>
      <vt:lpstr>Microsoft YaHei</vt:lpstr>
      <vt:lpstr>Arial Unicode MS</vt:lpstr>
      <vt:lpstr>MingLiU-ExtB</vt:lpstr>
      <vt:lpstr>Retrospect</vt:lpstr>
      <vt:lpstr>Sales Prediction using Regression Models in Big Data Analytics </vt:lpstr>
      <vt:lpstr>Problem Statement</vt:lpstr>
      <vt:lpstr>Objective</vt:lpstr>
      <vt:lpstr>Dataset Description</vt:lpstr>
      <vt:lpstr>Data Preprocessing &amp; EDA</vt:lpstr>
      <vt:lpstr>Model Implementation</vt:lpstr>
      <vt:lpstr>Results &amp; Performance</vt:lpstr>
      <vt:lpstr>Results &amp; Performance</vt:lpstr>
      <vt:lpstr>Results &amp; Performance</vt:lpstr>
      <vt:lpstr>Frontend Implementation</vt:lpstr>
      <vt:lpstr>Key Observations &amp; Challenges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Prediction using Regression Models in Big Data Analytics </dc:title>
  <dc:creator>Vaishnavi Ponnuru</dc:creator>
  <cp:lastModifiedBy>Charita Vaddadi</cp:lastModifiedBy>
  <cp:revision>2</cp:revision>
  <dcterms:created xsi:type="dcterms:W3CDTF">2026-03-31T03:15:00Z</dcterms:created>
  <dcterms:modified xsi:type="dcterms:W3CDTF">2026-04-23T17:49:58Z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0B40FBC081B048819B3F9590D21D984C_13</vt:lpwstr>
  </property>
  <property fmtid="{D5CDD505-2E9C-101B-9397-08002B2CF9AE}" pid="3" name="KSOProductBuildVer">
    <vt:lpwstr>1033-12.1.0.25830</vt:lpwstr>
  </property>
</Properties>
</file>